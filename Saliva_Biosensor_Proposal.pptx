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Adults with diabetes (millions)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2050 (Projected)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589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C4-4B8C-9E1A-039974E9A8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C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C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Typical concentration (mg/dL)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737-4D5A-8E60-5FE6FBA6CF95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37-4D5A-8E60-5FE6FBA6CF9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Blood Glucose</c:v>
                </c:pt>
                <c:pt idx="1">
                  <c:v>Salivary Glucose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37-4D5A-8E60-5FE6FBA6CF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C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C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coefficient</c:v>
                </c:pt>
              </c:strCache>
            </c:strRef>
          </c:tx>
          <c:spPr>
            <a:solidFill>
              <a:srgbClr val="5B7C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653-41D1-877A-844320BA034E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53-41D1-877A-844320BA034E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B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Dar et al. (2025)
Reported (r)</c:v>
                </c:pt>
                <c:pt idx="1">
                  <c:v>This Project
Target (R²)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0.97</c:v>
                </c:pt>
                <c:pt idx="1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53-41D1-877A-844320BA03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C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C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00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9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Saliva-Based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Electrochemical Biosensor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Glucose Detection in Diabetic Patients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22960" y="4800600"/>
            <a:ext cx="2926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29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Yashodeep Bhawsar  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349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Engineering — Shri G. S. Institute of Technology &amp; Science, Indore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Global Diabetes Burden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glucose monitoring still falls short of the need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AF6F6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6479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589M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4144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living with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worldwide (2024)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AF6F6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76479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11880" y="244144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remain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undiagnosed (~252M people)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AF6F6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76479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$1.015T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37960" y="244144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global health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(2024)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0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AF6F6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0" y="176479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9 sec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64040" y="244144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diabetes-related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occurs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Growth of Global Diabetes Prevalence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977640"/>
          <a:ext cx="61264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6995160" y="3611880"/>
            <a:ext cx="4617720" cy="2880360"/>
          </a:xfrm>
          <a:prstGeom prst="roundRect">
            <a:avLst>
              <a:gd name="adj" fmla="val 2540"/>
            </a:avLst>
          </a:prstGeom>
          <a:solidFill>
            <a:srgbClr val="024955"/>
          </a:solidFill>
          <a:ln/>
        </p:spPr>
      </p:sp>
      <p:sp>
        <p:nvSpPr>
          <p:cNvPr id="19" name="Shape 16"/>
          <p:cNvSpPr/>
          <p:nvPr/>
        </p:nvSpPr>
        <p:spPr>
          <a:xfrm>
            <a:off x="7269480" y="3840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2637" y="3953637"/>
            <a:ext cx="276606" cy="27660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69480" y="4434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269480" y="4800600"/>
            <a:ext cx="4069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5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care still relies on the </a:t>
            </a: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finger-prick</a:t>
            </a:r>
            <a:r>
              <a:rPr lang="en-US" sz="1250" dirty="0">
                <a:solidFill>
                  <a:srgbClr val="E5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blood draw — invasive, painful, and a major driver of patient non-compliance, especially among children and the elderly.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Saliva-Based Electrochemical Biosensor for Non-Invasive Glucose Detection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Saliva as the Diagnostic Medium?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non-invasive alternative grounded in established biomarker correlation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E8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9C4A2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3383280" cy="365760"/>
          </a:xfrm>
          <a:prstGeom prst="rect">
            <a:avLst/>
          </a:prstGeom>
          <a:solidFill>
            <a:srgbClr val="9C4A2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(SMBG)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clinical gold standard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Finger-prick required, multiple times daily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46557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Painful, invasive, low compliance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05079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infection &amp; psychological distress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6360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accuracy, but poor sustainability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182880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E8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51960" y="18288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51960" y="2331720"/>
            <a:ext cx="338328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484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alternative medium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28803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Abundant, painless, self-collectible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0" y="346557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in systemic biomarkers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0" y="405079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correlation with blood glucose (Dar et al., 2025)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80560" y="46360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ultra-sensitive detection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0" y="182880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E8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0" y="18288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5B7C82"/>
          </a:solidFill>
          <a:ln/>
        </p:spPr>
      </p:sp>
      <p:sp>
        <p:nvSpPr>
          <p:cNvPr id="24" name="Shape 22"/>
          <p:cNvSpPr/>
          <p:nvPr/>
        </p:nvSpPr>
        <p:spPr>
          <a:xfrm>
            <a:off x="7955280" y="2331720"/>
            <a:ext cx="3383280" cy="365760"/>
          </a:xfrm>
          <a:prstGeom prst="rect">
            <a:avLst/>
          </a:prstGeom>
          <a:solidFill>
            <a:srgbClr val="5B7C82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19385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Systems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38160" y="2286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but limited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83880" y="28803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Patient-friendly, continuous data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83880" y="346557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cost, limits adoption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83880" y="405079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subcutaneous insertion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83880" y="46360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burden remains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9333"/>
            </a:avLst>
          </a:prstGeom>
          <a:solidFill>
            <a:srgbClr val="024955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7607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 offers the best balance of patient comfort and biomarker reliability — if sensitivity and selectivity challenges can be engineered around.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Saliva-Based Electrochemical Biosensor for Non-Invasive Glucose Detection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Challenges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that must be engineered around for clinical-grade saliva sensing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6F6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4767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Glucose Concentration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Salivary glucose is roughly 100–1000× lower than blood glucose (0.5–2.0 mg/dL fasting), demanding highly sensitive transducers.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6F6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1691" y="209969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4767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Salivary Composition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6060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Hydration, circadian rhythm, oral hygiene, food intake, and medication all introduce variability and reproducibility challenges.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6F6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91" y="43399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8795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Selectivity Against Interferents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Ascorbic acid, uric acid, and dopamine are electroactive species that can confound glucose-specific signals.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EAF6F6"/>
          </a:solidFill>
          <a:ln/>
          <a:effectLst>
            <a:outerShdw blurRad="635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06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1691" y="433997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18795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Conversion Factor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7960" y="48463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across diverse diabetic populations to establish a reliable saliva-to-blood conversion factor is still lacking.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80644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024955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approach: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nanomaterial-enhanced electrode surfaces combined with enzyme-based electrochemistry to meet all four challenges simultaneously.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Saliva-Based Electrochemical Biosensor for Non-Invasive Glucose Detection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49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261872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71" y="1395603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20700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Objective:  </a:t>
            </a:r>
            <a:r>
              <a:rPr lang="en-US" sz="13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fabricate, and validate a sensitive, selective, cost-effective saliva-based electrochemical biosensor for real-time non-invasive glucose monitoring.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2770632"/>
            <a:ext cx="4617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systematic literature review of saliva-based glucose sensing technologies and enzyme immobilization strategies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269748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720840" y="2770632"/>
            <a:ext cx="4617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modified electrode platform using biocompatible nanomaterials (AuNPs, CNTs, graphene oxide) for enhanced sensitivity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959352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43000" y="4032504"/>
            <a:ext cx="4617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Immobilize glucose oxidase (GOx) and characterize detection range, LOD, sensitivity, and selectivity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26480" y="3959352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720840" y="4032504"/>
            <a:ext cx="4617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artificial and real saliva samples against clinical glucometer readings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221224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312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43000" y="5294376"/>
            <a:ext cx="4617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storage stability, repeatability, and interference from common salivary components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26480" y="5221224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5312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720840" y="5294376"/>
            <a:ext cx="46177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feasibility of miniaturizing into a portable point-of-care (POC) device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Saliva-Based Electrochemical Biosensor for Non-Invasive Glucose Detection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Four Sequential Phases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builds on the preceding one, ensuring systematic development and validation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3520440"/>
          </a:xfrm>
          <a:prstGeom prst="roundRect">
            <a:avLst>
              <a:gd name="adj" fmla="val 3051"/>
            </a:avLst>
          </a:prstGeom>
          <a:solidFill>
            <a:srgbClr val="EAF6F6"/>
          </a:solidFill>
          <a:ln w="12700">
            <a:solidFill>
              <a:srgbClr val="E2E8E8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37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E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377440" y="1920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171" y="205397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Selection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2020–2025 publications select electrode materials (GCE / SPCE) and nanomaterial modifiers.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4116" y="330555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1691640"/>
            <a:ext cx="2697480" cy="35204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2E8E8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66160" y="1737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E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Shape 10"/>
          <p:cNvSpPr/>
          <p:nvPr/>
        </p:nvSpPr>
        <p:spPr>
          <a:xfrm>
            <a:off x="5303520" y="1920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251" y="2053971"/>
            <a:ext cx="326898" cy="3268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26060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Biosensor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03320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preparation, nanomaterial deposition (AuNPs / rGO), and GOx immobilization via glutaraldehyde/BSA cross-linking + Nafion coating.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40196" y="330555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1691640"/>
            <a:ext cx="2697480" cy="3520440"/>
          </a:xfrm>
          <a:prstGeom prst="roundRect">
            <a:avLst>
              <a:gd name="adj" fmla="val 3051"/>
            </a:avLst>
          </a:prstGeom>
          <a:solidFill>
            <a:srgbClr val="EAF6F6"/>
          </a:solidFill>
          <a:ln w="12700">
            <a:solidFill>
              <a:srgbClr val="E2E8E8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92240" y="1737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E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Shape 16"/>
          <p:cNvSpPr/>
          <p:nvPr/>
        </p:nvSpPr>
        <p:spPr>
          <a:xfrm>
            <a:off x="8229600" y="1920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331" y="2053971"/>
            <a:ext cx="326898" cy="32689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9400" y="26060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629400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Chronoamperometry to assess linear range, LOD, selectivity (vs. ascorbic/uric acid), and 14-day stability under refrigeration.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66276" y="330555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0"/>
          <p:cNvSpPr/>
          <p:nvPr/>
        </p:nvSpPr>
        <p:spPr>
          <a:xfrm>
            <a:off x="9326880" y="1691640"/>
            <a:ext cx="2697480" cy="352044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2E8E8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418320" y="17373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E4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800" dirty="0"/>
          </a:p>
        </p:txBody>
      </p:sp>
      <p:sp>
        <p:nvSpPr>
          <p:cNvPr id="27" name="Shape 22"/>
          <p:cNvSpPr/>
          <p:nvPr/>
        </p:nvSpPr>
        <p:spPr>
          <a:xfrm>
            <a:off x="11155680" y="1920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9411" y="2053971"/>
            <a:ext cx="326898" cy="32689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55480" y="260604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555480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 from diabetic &amp; non-diabetic volunteers compared to glucometer readings via Pearson correlation and Bland-Altman analysis.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4955"/>
          </a:solidFill>
          <a:ln/>
        </p:spPr>
      </p:sp>
      <p:sp>
        <p:nvSpPr>
          <p:cNvPr id="32" name="Shape 26"/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" y="5728716"/>
            <a:ext cx="301752" cy="30175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08760" y="553212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Characterization techniques used throughout:  </a:t>
            </a:r>
            <a:r>
              <a:rPr lang="en-US" sz="12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Electron Microscopy (SEM), Cyclic Voltammetry (CV), and Electrochemical Impedance Spectroscopy (EIS).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Saliva-Based Electrochemical Biosensor for Non-Invasive Glucose Detection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 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benchmarks the fabricated biosensor will be tested against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Concentration: Blood vs. Saliva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54864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Salivary glucose is ~100–1000× lower than blood glucose, requiring trace-level detection sensitivity.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554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Detection Specifications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96596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19659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Detection Range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372600" y="196596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– 5 mM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0" y="2642616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AF6F6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6426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of Detection (LOD)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372600" y="264261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µM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0" y="3319272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AF6F6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31927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Testing Window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372600" y="331927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 (refrigerated)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3995928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AF6F6"/>
          </a:solidFill>
          <a:ln/>
        </p:spPr>
      </p:sp>
      <p:sp>
        <p:nvSpPr>
          <p:cNvPr id="18" name="Text 15"/>
          <p:cNvSpPr/>
          <p:nvPr/>
        </p:nvSpPr>
        <p:spPr>
          <a:xfrm>
            <a:off x="6583680" y="399592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Species Tested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372600" y="399592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Ascorbic acid · Uric acid · Acetaminophen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24955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49377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71" y="5071491"/>
            <a:ext cx="326898" cy="32689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54480" y="4846320"/>
            <a:ext cx="9784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 Calculation Method:  </a:t>
            </a:r>
            <a:r>
              <a:rPr lang="en-US" sz="12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of Detection is calculated as three times the standard deviation of the blank signal, divided by the slope of the calibration curve — assessed via amperometric chronoamperometry across the full salivary concentration range (0.01–5 mM).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Saliva-Based Electrochemical Biosensor for Non-Invasive Glucose Detection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deliverables benchmarked against current literature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Salivary–Blood Glucose Correlation Target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20240"/>
          <a:ext cx="5394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09360" y="1965960"/>
            <a:ext cx="365760" cy="36576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0391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12280" y="1938528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prototype: 0.01–5 mM detection range, LOD &lt; 1 µM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09360" y="2679192"/>
            <a:ext cx="365760" cy="36576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75234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12280" y="26517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dataset — SEM morphology, CV behavior, EIS parameters, amperometric curves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309360" y="3392424"/>
            <a:ext cx="365760" cy="36576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465576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12280" y="336499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manuscript or conference presentation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309360" y="4105656"/>
            <a:ext cx="365760" cy="36576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4178808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12280" y="407822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for future wearable / smartphone-integrated POC platform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6"/>
          </a:solidFill>
          <a:ln/>
        </p:spPr>
      </p:sp>
      <p:sp>
        <p:nvSpPr>
          <p:cNvPr id="20" name="Shape 13"/>
          <p:cNvSpPr/>
          <p:nvPr/>
        </p:nvSpPr>
        <p:spPr>
          <a:xfrm>
            <a:off x="777240" y="52578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971" y="5391531"/>
            <a:ext cx="326898" cy="32689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554480" y="52120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prototype:  </a:t>
            </a:r>
            <a:r>
              <a:rPr lang="en-US" sz="1200" dirty="0">
                <a:solidFill>
                  <a:srgbClr val="5B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removing the need for blood sampling, this biosensor can improve patient quality of life, raise monitoring frequency and compliance, and support better long-term glycemic control.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Saliva-Based Electrochemical Biosensor for Non-Invasive Glucose Detection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27455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B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49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Impact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blood-draw barrier from routine diabetes care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3162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638" y="229285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926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Quality of Life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repeated, painful finger-pricks from daily routines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187452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36626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278" y="229285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926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Monitoring Frequency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66160" y="3429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Pain-free testing encourages more consistent glucose tracking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87452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20090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4918" y="229285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926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Glycemic Control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0" y="3429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frequent monitoring supports fewer long-term complications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52560" y="187452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1003554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9558" y="229285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9720" y="2926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&amp; Low-Cost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35440" y="342900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resource-limited settings across India and LMICs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</a:t>
            </a:r>
            <a:r>
              <a:rPr lang="en-US" sz="130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with diabetes live in low- and middle-income countries — where a low-cost, non-invasive sensor has the greatest potential reach.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54864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962</Words>
  <Application>Microsoft Office PowerPoint</Application>
  <PresentationFormat>Widescreen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Saliva-Based Electrochemical Biosensor — Project Proposal</dc:title>
  <dc:subject>PptxGenJS Presentation</dc:subject>
  <dc:creator>Yash</dc:creator>
  <cp:lastModifiedBy>Yashodeep Bhawsar</cp:lastModifiedBy>
  <cp:revision>3</cp:revision>
  <dcterms:created xsi:type="dcterms:W3CDTF">2026-06-20T07:38:19Z</dcterms:created>
  <dcterms:modified xsi:type="dcterms:W3CDTF">2026-06-29T04:50:22Z</dcterms:modified>
</cp:coreProperties>
</file>